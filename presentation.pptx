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DECENTRATHON 6.0 — SOUP KERNEL CHALLENGE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Arial"/>
              </a:defRPr>
            </a:pPr>
            <a:r>
              <a:t>Qwen2.5 Fine-Tuning: Triton Kernels &amp; VRAM Optimization</a:t>
            </a:r>
          </a:p>
          <a:p>
            <a:pPr>
              <a:spcBef>
                <a:spcPts val="600"/>
              </a:spcBef>
              <a:defRPr sz="1400">
                <a:solidFill>
                  <a:srgbClr val="10B981"/>
                </a:solidFill>
                <a:latin typeface="Arial"/>
              </a:defRPr>
            </a:pPr>
            <a:r>
              <a:t>Kaggle Tesla T4 (15GB): VRAM 3.39x үнемдеу (14.35 GB -&gt; 4.23 GB), 1.219x Speedup және 10/10 PASS</a:t>
            </a:r>
          </a:p>
          <a:p>
            <a:br/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Команда: LunarTeam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Arial"/>
              </a:defRPr>
            </a:pPr>
            <a:r>
              <a:t>• Бекболат (Role 1): Техникалық Лид, Капитан &amp; GPU Kernel Архитекторы (Chunked CE &amp; NF4 Dequant)</a:t>
            </a:r>
            <a:br/>
            <a:r>
              <a:t>• Тоғжан (Role 4): ML Research Engineer &amp; QA Lead (Convergence Math, VRAM Roofline &amp; Pitch)</a:t>
            </a:r>
            <a:br/>
            <a:r>
              <a:t>• Нұрдәулет (Role 2): Triton Element-Wise &amp; Model Kernels Инженері (RMSNorm, RoPE, SwiGLU)</a:t>
            </a:r>
            <a:br/>
            <a:r>
              <a:t>• Дархан (Role 3): Batch Optimization, Harness &amp; Тұрақтылық Инженері (Dynamic Padding, 79 Tests)</a:t>
            </a:r>
          </a:p>
          <a:p>
            <a:br/>
            <a:pPr>
              <a:spcBef>
                <a:spcPts val="1000"/>
              </a:spcBef>
              <a:defRPr sz="1100" b="1">
                <a:solidFill>
                  <a:srgbClr val="06B6D4"/>
                </a:solidFill>
                <a:latin typeface="Arial"/>
              </a:defRPr>
            </a:pPr>
            <a:r>
              <a:t>🔗 GitHub: github.com/ninumaki/SoupLunar   |   🔗 Kaggle Notebook: kaggle.com/code/ruekdp/notebookd4dc02b276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ПРОФАЙЛИНГ ЖӘНЕ КЕДЕРГІЛЕР (BOTTLENECKS)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1-Сұрақ: Қай операцияларды жеделдеттік және неге?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Базалық Орындалу Профилі (Soup 0.77.0):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44% уақыт: Ұсақ элементтік операциялар: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FP16 &lt;-&gt; FP32 casts, 57x RMSNorm, 28x SwiGLU, RoPE, LoRA қосулары.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36% уақыт: GEMM / MatMul: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Сызықтық қабаттардың матрицалық көбейтулері.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7% уақыт: Cross-Entropy Loss &amp; Softmax: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151,936 сөздік өлшемі бойынша логиттер мен градиенттер (VRAM шыңы!).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5% уақыт: NF4 салмақтарын декванттау: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4-биттік салмақтарды әр қадамда absmax блоктарымен ашу.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5% уақыт: Attention блогы: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Бос trailing pad токендерімен O(S^2) есептелуі.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VRAM Tapshylygy (OOM қаупі)::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Базалық жүйе қолжетімді 15,360 МиБ-тың 14,345 МиБ-ын (~93.4%) алады!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Неге осы операцияларды таңдадық?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✔ Memory-Bandwidth Bound мәселесі: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Tesla T4 картасының жад өткізу қабілеті небәрі 320 ГБ/с. Элементтік операциялардың арифметикалық қарқындылығы өте төмен (I &lt;&lt; 10), уақыт HBM/DRAM-ға дерек тасуға кетеді.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✔ SRAM On-Chip Fusion стратегиясы: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PyTorch бөлек CUDA кернелдерінің орнына, бірнеше амалды GPU-дың шапшаң ішкі жадында (SRAM/Registers) бір ғана I/O өтуімен орындау.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✔ 1.24 GB Логиттер Тензорын Жою: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152k сөздік логиттерін жадта сақтамай, Online Softmax (LogSumExp) арқылы кернел ішінде есептеу VRAM шыңын түбегейлі шешеді.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✔ Pad-Token Truncation арқылы -35% FLOPs: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Датасет ұзындығы ~220 токен. Батч ішіндегі артық паддингті кесу арқылы Attention көлемін 35%-ға қысқарту.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АРХИТЕКТУРА ЖӘНЕ ТРИТОН КЕРНЕЛДЕРІ (@TRITON.JIT)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2-Сұрақ: Кернелдер қалай құрылған?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Fused Chunked Cross-Entropy</a:t>
            </a:r>
          </a:p>
          <a:p>
            <a:pPr>
              <a:defRPr sz="950">
                <a:solidFill>
                  <a:srgbClr val="10B981"/>
                </a:solidFill>
              </a:defRPr>
            </a:pPr>
            <a:r>
              <a:t>Файл: solution/fused_cross_entropy.py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Online Softmax (LogSumExp) алгоритмі арқылы C=128 өлшемді чанктермен есептеледі.</a:t>
            </a:r>
            <a:br/>
            <a:r>
              <a:t>• [2048 x 151936] FP16 логиттер (1.24 GB) HBM-де сақталмайды -&gt; 77.8 MB буфер (93.7% үнемдеу!).</a:t>
            </a:r>
            <a:br/>
            <a:r>
              <a:t>• Streaming Shannon Entropy H(p) = LSE(z) - mean(z) және dlogits бір өтуде анықталады.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Fused RMSNorm + Fused Q/K RoPE</a:t>
            </a:r>
          </a:p>
          <a:p>
            <a:pPr>
              <a:defRPr sz="950">
                <a:solidFill>
                  <a:srgbClr val="10B981"/>
                </a:solidFill>
              </a:defRPr>
            </a:pPr>
            <a:r>
              <a:t>Файл: solution/fused_rmsnorm.py &amp; fused_rope.py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RMSNorm: PyTorch-тың 5 бөлек CUDA ядросының орнына 1 SRAM өтуі; дисперсия FP32 регистрлерінде.</a:t>
            </a:r>
            <a:br/>
            <a:r>
              <a:t>• QLoRA-да норма салмақтары қатып тұрғандықтан (requires_grad=False) dW редукциясы өткізіледі.</a:t>
            </a:r>
            <a:br/>
            <a:r>
              <a:t>• RoPE: Q (12 head) және K (2 head) бір кернелде, rotate_half/cat аралық тензорларынсыз бұрылады.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Byte-Packed NF4 Dequantization</a:t>
            </a:r>
          </a:p>
          <a:p>
            <a:pPr>
              <a:defRPr sz="950">
                <a:solidFill>
                  <a:srgbClr val="10B981"/>
                </a:solidFill>
              </a:defRPr>
            </a:pPr>
            <a:r>
              <a:t>Файл: solution/nf4_dequant.py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16-мәндік NF4 кестесі Triton регистрінде (Register LUT), double-quant absmax қолдауымен.</a:t>
            </a:r>
            <a:br/>
            <a:r>
              <a:t>• 4-биттік салмақтарды SRAM ішінде FP16-ға ашып, bitsandbytes dequantize_4bit орнын басады.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INT8 SwiGLU + Dynamic Padding + K-Bit MP</a:t>
            </a:r>
          </a:p>
          <a:p>
            <a:pPr>
              <a:defRPr sz="950">
                <a:solidFill>
                  <a:srgbClr val="10B981"/>
                </a:solidFill>
              </a:defRPr>
            </a:pPr>
            <a:r>
              <a:t>Файл: solution/swiglu.py, dynamic_padding.py, apply()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INT8 SwiGLU: forward дәл FP16; backward үшін (gate, up) group-128 INT8 түрінде сақталады.</a:t>
            </a:r>
            <a:br/>
            <a:r>
              <a:t>• Dynamic Padding: батч ішіндегі артық pad-токендер кесіледі, батч реті өзгермейді.</a:t>
            </a:r>
            <a:br/>
            <a:r>
              <a:t>• K-Bit Mixed Precision: тек нормалар FP32-де, embed/lm_head FP16-да қалады.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РЕСМИ KAGGLE TESLA T4 БЕНЧМАРКІ (RUNS/RESULT.JSON)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3-Сұрақ: Базамен салыстырғандағы нәтижелер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645920"/>
                <a:gridCol w="2133295"/>
              </a:tblGrid>
              <a:tr h="374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Метрика / Көрсеткіш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Базалық Soup 0.77.0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LunarTeam Шешімі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Өзгеріс / Ratio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Қорытынды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Пиктік бейнежад (Peak VRAM)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14,345 МиБ (14.35 GB)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4,231 МиБ (4.23 GB)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Memory 3.390x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🔥 10,114 МиБ (10.1 GB) үнемделді!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Толық оқыту уақыты (soup train)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79.38 с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65.10 с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Speedup 1.219x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⚡ 14.3 секундқа жеделдеді!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Өз Triton кернелдерінің үлесі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13.3%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Талап: &gt;= 5.0%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4 PASS (2.6 есе асты)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1-қадамдағы Loss ауытқуы (ΔL1)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2.05893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2.05870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Delta = 0.011%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6 PASS (&lt;= 1.0% шегі)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64 қадамдық орташа Loss айырмасы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0.060%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Delta = 0.060%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6 PASS (&lt;= 3.0% шегі)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Streaming Shannon Entropy айырмасы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0.222%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Delta = 0.222%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5 PASS (&lt;= 3.0% шегі)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Eval Loss (Жасырын қатарлар)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2.04970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2.04956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Delta = -0.007%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💎 Check 7 PASS (Сапа жақсарды)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Triton кернелдерінің unit-тесттері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21 passed in 18.02s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100% жасыл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✅ PyTorch эталонымен сәйкес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Soup регрессиялық тесттері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79 passed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79 passed in 0.38s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100% сәйкес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✅ Check 10 PASS (79/79)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7408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Барлық ережелер (check_rules.py)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10 / 10 PASS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ALL PASS: TRUE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🏆 20/20 ұпай кепілдендірілді</a:t>
                      </a:r>
                    </a:p>
                  </a:txBody>
                  <a:tcPr>
                    <a:solidFill>
                      <a:srgbClr val="18223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15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💡 Практикалық маңызы: Үнемделген 10.1 ГБ VRAM арқасында тегін Kaggle T4 картасында контент ұзындығын 512-ден 2048-ге өсіруге немесе батчты 4 есе арттыруға толық мүмкіндік бар!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ИНЖЕНЕРЛІК ШЕКТЕУЛЕР ЖӘНЕ ROADMAP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4-Сұрақ: Шешімнің шектеулері және келесі қадамдар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Шешімнің Ашық Шектеулері (Limitations):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⚠ Turing T4 Архитектурасы (sm_75):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Tesla T4 картасында bfloat16 аппараттық нұсқаулықтары жоқ, тек FP16. FP16 шегі (~65504) шектеулі болғандықтан, кернелдердегі барлық редукциялар мен қосындылар сан тұрақтылығы үшін tl.float32 регистрлерінде орындалып, шығысы FP16-ға түсірілді.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⚠ Алғашқы 2 қадамдағы JIT-компиляция шығыны: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run_task.py әр өлшемді таза ортада бастайтындықтан, Triton алғашқы 2 қадамда кернелдерді компиляциялайды (~2.5 с). Ұзақ оқытуларда (1000+ қадам) бұл overhead нөлге теңеседі.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⚠ Шағын батч өлшемі (Batch=4, Seq=512):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M = 2048 қатары T4 GPU-дың барлық 40 Streaming Multiprocessor (SM) блоктарын толық толтырмайды. Жад үнемделген соң батчты көбейтуге болады.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Келесі Даму Бағыттары (Roadmap):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🚀 Flash-Attention Style Triton Fused Block: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Attention қабатының Q x K^T, Softmax және V көбейтулерін аралық тензорларды сақтамай, толық чип ішіндегі бірыңғай кернелге біріктіру.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🚀 W4A16 Fused GEMM (NF4 MatMul):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NF4 салмақтарын деквантизациялау мен матрицалық көбейтуді (GEMM) бір ортақ кернелде қосып, сызықтық қабаттарды тағы 1.3x жеделдету.</a:t>
            </a:r>
          </a:p>
          <a:p>
            <a:pPr>
              <a:spcBef>
                <a:spcPts val="800"/>
              </a:spcBef>
              <a:defRPr b="1" sz="1100">
                <a:solidFill>
                  <a:srgbClr val="06B6D4"/>
                </a:solidFill>
              </a:defRPr>
            </a:pPr>
            <a:r>
              <a:t>🚀 Sequence Packing (Padding-Free):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Батч ішіндегі қысқа жолдарды бір ұзын тізбекке біріктіріп (cu_seqlens арқылы), бос токендерді 0%-ға дейін жою.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LUNARTEAM — ЖЕҢІСКЕ ДАЙЫН ШЕШІМ</a:t>
            </a:r>
          </a:p>
          <a:p>
            <a:pPr>
              <a:spcBef>
                <a:spcPts val="400"/>
              </a:spcBef>
              <a:defRPr sz="2200" b="1">
                <a:solidFill>
                  <a:srgbClr val="F8FAFC"/>
                </a:solidFill>
                <a:latin typeface="Arial"/>
              </a:defRPr>
            </a:pPr>
            <a:r>
              <a:t>Қорытынды және Байқауды Тапсыру (Conclusion)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13455" cy="3657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6B6D4"/>
                </a:solidFill>
              </a:defRPr>
            </a:pPr>
            <a:r>
              <a:t>🏆 10 / 10 PASS</a:t>
            </a:r>
          </a:p>
          <a:p>
            <a:pPr>
              <a:spcBef>
                <a:spcPts val="400"/>
              </a:spcBef>
              <a:defRPr b="1" sz="1100">
                <a:solidFill>
                  <a:srgbClr val="10B981"/>
                </a:solidFill>
              </a:defRPr>
            </a:pPr>
            <a:r>
              <a:t>Толық Ережелік Сәйкестік</a:t>
            </a:r>
          </a:p>
          <a:p>
            <a:br/>
            <a:pPr>
              <a:defRPr sz="1050">
                <a:solidFill>
                  <a:srgbClr val="E2E8F0"/>
                </a:solidFill>
              </a:defRPr>
            </a:pPr>
            <a:r>
              <a:t>• PyTest: 21/21 + Soup 79/79 passed</a:t>
            </a:r>
            <a:br/>
            <a:r>
              <a:t>• Kernel share: 13.3% (&gt;= 5%)</a:t>
            </a:r>
            <a:br/>
            <a:r>
              <a:t>• Eval loss: -0.007% (сақталды)</a:t>
            </a:r>
            <a:br/>
            <a:r>
              <a:t>• 0 NaN/Inf барлық 64 қадамда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413455" cy="3657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6B6D4"/>
                </a:solidFill>
              </a:defRPr>
            </a:pPr>
            <a:r>
              <a:t>⚡ 1.219x Speedup</a:t>
            </a:r>
          </a:p>
          <a:p>
            <a:pPr>
              <a:spcBef>
                <a:spcPts val="400"/>
              </a:spcBef>
              <a:defRPr b="1" sz="1100">
                <a:solidFill>
                  <a:srgbClr val="10B981"/>
                </a:solidFill>
              </a:defRPr>
            </a:pPr>
            <a:r>
              <a:t>Оқытуды Жеделдету</a:t>
            </a:r>
          </a:p>
          <a:p>
            <a:br/>
            <a:pPr>
              <a:defRPr sz="1050">
                <a:solidFill>
                  <a:srgbClr val="E2E8F0"/>
                </a:solidFill>
              </a:defRPr>
            </a:pPr>
            <a:r>
              <a:t>• База: 79.38 с -&gt; Бізде: 65.10 с</a:t>
            </a:r>
            <a:br/>
            <a:r>
              <a:t>• 14.3 секунд таза уақыт үнемделді</a:t>
            </a:r>
            <a:br/>
            <a:r>
              <a:t>• Fused CE: 1.24 GB -&gt; 78 MB</a:t>
            </a:r>
            <a:br/>
            <a:r>
              <a:t>• Dynamic unpadding: -35% FLOPs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413455" cy="3657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6B6D4"/>
                </a:solidFill>
              </a:defRPr>
            </a:pPr>
            <a:r>
              <a:t>🔥 3.390x VRAM Ratio</a:t>
            </a:r>
          </a:p>
          <a:p>
            <a:pPr>
              <a:spcBef>
                <a:spcPts val="400"/>
              </a:spcBef>
              <a:defRPr b="1" sz="1100">
                <a:solidFill>
                  <a:srgbClr val="10B981"/>
                </a:solidFill>
              </a:defRPr>
            </a:pPr>
            <a:r>
              <a:t>Жад Бойынша Чемпион</a:t>
            </a:r>
          </a:p>
          <a:p>
            <a:br/>
            <a:pPr>
              <a:defRPr sz="1050">
                <a:solidFill>
                  <a:srgbClr val="E2E8F0"/>
                </a:solidFill>
              </a:defRPr>
            </a:pPr>
            <a:r>
              <a:t>• База: 14,345 MiB (14.35 GB)</a:t>
            </a:r>
            <a:br/>
            <a:r>
              <a:t>• LunarTeam: 4,231 MiB (4.23 GB)</a:t>
            </a:r>
            <a:br/>
            <a:r>
              <a:t>• Үнемделген: 10,114 MiB (10.1 GB!)</a:t>
            </a:r>
            <a:br/>
            <a:r>
              <a:t>• OOM қаупі толық жойылды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728655" cy="9144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🔗 GitHub Репозиторий: https://github.com/ninumaki/SoupLunar (Ветка: main, финалдық коммит)</a:t>
            </a:r>
            <a:br/>
            <a:r>
              <a:t>🔗 Жария Kaggle Ноутбугы: https://www.kaggle.com/code/ruekdp/notebookd4dc02b276 (Run All -&gt; 10/10 PASS)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