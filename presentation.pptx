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</a:defRPr>
            </a:pPr>
            <a:r>
              <a:t>DECENTRATHON 6.0 | SOUP KERNEL CHALLENGE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t>Triton Кернелдері арқылы Qwen2.5 Fine-Tuning Жеделдету мен Жадты Үнемдеу</a:t>
            </a:r>
          </a:p>
          <a:p>
            <a:br/>
            <a:pPr>
              <a:defRPr sz="1800">
                <a:solidFill>
                  <a:srgbClr val="94A3B8"/>
                </a:solidFill>
              </a:defRPr>
            </a:pPr>
            <a:r>
              <a:t>Kaggle Tesla T4 GPU-да 2.5 ГБ VRAM үнемдеу және оқыту қадамдарын 1.35x жеделдету</a:t>
            </a:r>
          </a:p>
          <a:p>
            <a:br/>
            <a:pPr>
              <a:defRPr sz="1400" b="1">
                <a:solidFill>
                  <a:srgbClr val="10B981"/>
                </a:solidFill>
              </a:defRPr>
            </a:pPr>
            <a:r>
              <a:t>Команда: LunarTeam  |  Спикер &amp; Автор: Тоғжан (Role 4: Құжаттама, Kaggle және Питч)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1-Сұрақ: Қай операцияларды жеделдеттік және неге?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6B6D4"/>
                </a:solidFill>
              </a:defRPr>
            </a:pPr>
            <a:r>
              <a:t>📊 Негізгі Проблема (Profiling Analysis)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44% GPU уақыты: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Ұсақ элементтік операциялар мен тип түрлендіруге (casts) кетеді (RMSNorm, activations, LoRA adds).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14.3 ГБ / 15 ГБ VRAM: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Базалық Soup жадтың 93%-ын толтырып, OOM (Out Of Memory) шегінде тұрды.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Memory Bandwidth Bound: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PyTorch әрбір Layer-де DRAM-ға 5+ рет қатынап, өткізу қабілетін тұншықтырады.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36% GEMM &amp; 7% Softmax: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Матрица көбейту мен 152k сөздік шығыны.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⚡ Біздің Таңдауымыз бен Стратегиямыз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Fused RMSNorm (Өз Triton кернеліміз):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Qwen2.5-те 28 блокта 57 қабат RMSNorm бар. Оларды бірыңғай SRAM кернеліне біріктірдік.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Fused SwiGLU Activation: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SiLU(gate) * up операциясын 1024 өлшемді блоктармен чип ішінде есептедік.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Zero Extra DRAM Footprint: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Аралық үлкен тензорларды HBM-ге жазбай, жад тапшылығын бірден шештік.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✓ Exact Math &amp; 100% Quality: 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Математикалық дәлдік сақталды (Loss ауытқуы &lt; 0.01%).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2-Сұрақ: Кернел қалай құрылған?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1. Forward SRAM Tiling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BLOCK_SIZE = 2048 (hidden_size = 1536 толық сияды)</a:t>
            </a:r>
            <a:br/>
            <a:r>
              <a:t>• Әр бағдарлама блогы 1 толық жолды өңдейді</a:t>
            </a:r>
            <a:br/>
            <a:r>
              <a:t>• 1 рет жүктеу (Load) -&gt; FP32 Variance -&gt; rsqrt(var + eps) -&gt; Weight көбейту</a:t>
            </a:r>
            <a:br/>
            <a:r>
              <a:t>• Шығыс FP16 күйінде бірден жазылады (1 Store)</a:t>
            </a:r>
            <a:br/>
            <a:r>
              <a:t>• 5 бөлек CUDA kernel орнына тек 1 Triton kernel!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2. Backward Autograd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Аралық FP32 активтендірулерді сақтамаймыз (Жад үнемдеу!)</a:t>
            </a:r>
            <a:br/>
            <a:r>
              <a:t>• Тек 1 өлшемді rrms векторын (N_rows) ғана сақтаймыз</a:t>
            </a:r>
            <a:br/>
            <a:r>
              <a:t>• Градиент dx тікелей формула бойынша регистрде есептеледі:</a:t>
            </a:r>
            <a:br/>
            <a:r>
              <a:t>  dx = rrms*(dy*w - sum_term)</a:t>
            </a:r>
            <a:br/>
            <a:r>
              <a:t>• dW редукциясы чипте жинақталады</a:t>
            </a:r>
            <a:br/>
            <a:r>
              <a:t>• Градиент қателігі 0!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6B6D4"/>
                </a:solidFill>
              </a:defRPr>
            </a:pPr>
            <a:r>
              <a:t>3. apply() Патчингі</a:t>
            </a:r>
          </a:p>
          <a:p>
            <a:br/>
            <a:pPr>
              <a:defRPr sz="1200">
                <a:solidFill>
                  <a:srgbClr val="F8FAFC"/>
                </a:solidFill>
              </a:defRPr>
            </a:pPr>
            <a:r>
              <a:t>• Unsloth тәрізді бір ғана solution.apply() шақыруымен қосылады</a:t>
            </a:r>
            <a:br/>
            <a:r>
              <a:t>• Qwen2RMSNorm.forward және Qwen2MLP.forward модулін қорғалған түрде ауыстырады</a:t>
            </a:r>
            <a:br/>
            <a:r>
              <a:t>• Тесттердегі CPU және fake модульдерге кедергі жасамайды</a:t>
            </a:r>
            <a:br/>
            <a:r>
              <a:t>• 79 Soup регрессиялық тестінен 100% өтеді!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3-Сұрақ: Базамен салыстырғандағы нәтижелер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Speedup (s)</a:t>
            </a:r>
          </a:p>
          <a:p>
            <a:pPr>
              <a:defRPr sz="2800" b="1">
                <a:solidFill>
                  <a:srgbClr val="06B6D4"/>
                </a:solidFill>
              </a:defRPr>
            </a:pPr>
            <a:r>
              <a:t>1.23x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Толық уақыт 81.4с -&gt; 66.2с</a:t>
            </a:r>
            <a:br/>
            <a:r>
              <a:t>(Оқыту қадамы: 1.35x)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Peak Memory (m)</a:t>
            </a:r>
          </a:p>
          <a:p>
            <a:pPr>
              <a:defRPr sz="2800" b="1">
                <a:solidFill>
                  <a:srgbClr val="10B981"/>
                </a:solidFill>
              </a:defRPr>
            </a:pPr>
            <a:r>
              <a:t>1.21x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14.3 ГБ -&gt; 11.8 ГБ</a:t>
            </a:r>
            <a:br/>
            <a:r>
              <a:t>Үнемделді: 2.5 ГБ VRAM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Kernel Share</a:t>
            </a:r>
          </a:p>
          <a:p>
            <a:pPr>
              <a:defRPr sz="2800" b="1">
                <a:solidFill>
                  <a:srgbClr val="06B6D4"/>
                </a:solidFill>
              </a:defRPr>
            </a:pPr>
            <a:r>
              <a:t>7.84%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Өз кернелдеріміздің үлесі</a:t>
            </a:r>
            <a:br/>
            <a:r>
              <a:t>(Талап: &gt;= 5.0%)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645920"/>
            <a:ext cx="2468880" cy="192024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>
                <a:solidFill>
                  <a:srgbClr val="94A3B8"/>
                </a:solidFill>
              </a:defRPr>
            </a:pPr>
            <a:r>
              <a:t>Eval Loss</a:t>
            </a:r>
          </a:p>
          <a:p>
            <a:pPr>
              <a:defRPr sz="2800" b="1">
                <a:solidFill>
                  <a:srgbClr val="10B981"/>
                </a:solidFill>
              </a:defRPr>
            </a:pPr>
            <a:r>
              <a:t>2.050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Базамен дәлме-дәл</a:t>
            </a:r>
            <a:br/>
            <a:r>
              <a:t>(Delta: -0.01% &lt;= 0.5%)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10698480" cy="23774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8FAFC"/>
                </a:solidFill>
              </a:defRPr>
            </a:pPr>
            <a:r>
              <a:t>🎯 Хакатон Ережелері Тексерісі (Check Rules &amp; Final Score):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10/10 Harness Тексерісі: Барлығы сәтті өтті (PASS ✅) -&gt; 20 / 20 ұпай толық кепілдендірілді!</a:t>
            </a:r>
            <a:br/>
            <a:r>
              <a:t>• Техникалық құжаттама (README.md &amp; SUBMISSION.md): 3 бөлім де 5/5 -&gt; 15 / 15 ұпай кепілдендірілді!</a:t>
            </a:r>
            <a:br/>
            <a:r>
              <a:t>• 2.5 ГБ VRAM үнемдеу арқылы тегін Kaggle T4-те контекст ұзындығын 512-ден 1024 токенге дейін өсіруге толық мүмкіндік бар!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KERNEL CHALLENGE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4-Сұрақ: Шешімнің шектеулері және келесі қадамдар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F4444"/>
                </a:solidFill>
              </a:defRPr>
            </a:pPr>
            <a:r>
              <a:t>⚠️ Шешімнің Шектеулері (Limitations)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T4 Архитектурасы (No BF16):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T4 картасында bfloat16 және FP8 Tensor Core жоқ. Есептеулер тек FP16 күйінде шектеледі.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JIT Компиляция Салмағы: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Алғашқы 2 қадамда Triton кернелдерді жинақтайды. 64 қадамдық қысқа оқытуда 2-3 секунд компиляцияға кетеді.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Кіші Батч (Batch 4, Seq 512):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2048 жол үшін GPU-дың барлық SM блоктары 100% толық жүктелмей қалуы мүмкін.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NF4 GEMM тәуекелі: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NF4 декванттауды толық Triton-ға ауыстыру дәлдік ауытқуы салдарынан қосылмады.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6B6D4"/>
                </a:solidFill>
              </a:defRPr>
            </a:pPr>
            <a:r>
              <a:t>🚀 Келесі Қадамдар (Roadmap)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Fused Chunked Cross-Entropy: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152k сөздік үшін толық логиттер тензорын шығармай, шағын chunk-тармен шығынды Triton-да есептеу (тағы 2 ГБ үнемдеу!).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Padding-free Sequence Packing: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Батч ішіндегі нөлдік pad-токендерді Triton арқылы алып тастап, тек нақты токендерді өңдеу.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Custom Fused LoRA Forward: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LoRA қабатындағы көбейту мен қосуды (x + W_lora*x) бір операцияға біріктіру.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→ Ұзақ оқытуға масштабтау: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  1000+ қадамда JIT overhead жойылып, 1.35x+ жеделдету тұрақты сақталады.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SOUP OPTIMIZERS | DECENTRATHON 6.0</a:t>
            </a:r>
          </a:p>
          <a:p>
            <a:pPr>
              <a:defRPr sz="2600" b="1">
                <a:solidFill>
                  <a:srgbClr val="F8FAFC"/>
                </a:solidFill>
              </a:defRPr>
            </a:pPr>
            <a:r>
              <a:t>Қорытынды және Нәтижелер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941832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0B981"/>
                </a:solidFill>
              </a:defRPr>
            </a:pPr>
            <a:r>
              <a:t>🎉 Түйін: Тегін Kaggle T4-те Өнімді Оқыту Енді Қолжетімді!</a:t>
            </a:r>
          </a:p>
          <a:p>
            <a:br/>
            <a:pPr>
              <a:defRPr sz="1400">
                <a:solidFill>
                  <a:srgbClr val="F8FAFC"/>
                </a:solidFill>
              </a:defRPr>
            </a:pPr>
            <a:r>
              <a:t>1. Кепілдендірілген 15 Ұпай (Құжаттама): ТАЛАПТАРҒА ТОЛЫҚ САЙ README.md, SUBMISSION.md.</a:t>
            </a:r>
            <a:br/>
            <a:r>
              <a:t>2. Жұмыс істеуіне 20 Ұпай: 10/10 автоматты тексеруден және 79 Soup регрессиялық тестінен өтті.</a:t>
            </a:r>
            <a:br/>
            <a:r>
              <a:t>3. Жылдамдық &amp; Жад Ұпайы: 1.23x жеделдету, 2.5 ГБ VRAM үнемдеу, өз кернелдеріміздің үлесі 7.84%.</a:t>
            </a:r>
            <a:br/>
            <a:r>
              <a:t>4. Дәлдік: Жасырын қазақша деректерде оқыту сапасы базамен толық сәйкес (Delta = -0.01%).</a:t>
            </a:r>
            <a:br/>
            <a:br/>
            <a:r>
              <a:t>🔗 Kaggle Public Run: kaggle.com/code/ruekdp/notebookd4dc02b276</a:t>
            </a:r>
            <a:br/>
            <a:r>
              <a:t>🔗 GitHub Repo: github.com/ninumaki/SoupLunar</a:t>
            </a:r>
            <a:br/>
            <a:br/>
            <a:r>
              <a:t>Назарларыңызға рақмет! Сұрақтарыңызға жауап беруге дайынбыз!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